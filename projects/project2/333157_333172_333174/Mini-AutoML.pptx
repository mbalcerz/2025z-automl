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5143500" cx="9144000"/>
  <p:notesSz cx="6858000" cy="9144000"/>
  <p:embeddedFontLst>
    <p:embeddedFont>
      <p:font typeface="Raleway"/>
      <p:regular r:id="rId18"/>
      <p:bold r:id="rId19"/>
      <p:italic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aleway-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schemas.openxmlformats.org/officeDocument/2006/relationships/font" Target="fonts/Raleway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Raleway-bold.fntdata"/><Relationship Id="rId6" Type="http://schemas.openxmlformats.org/officeDocument/2006/relationships/slide" Target="slides/slide1.xml"/><Relationship Id="rId18" Type="http://schemas.openxmlformats.org/officeDocument/2006/relationships/font" Target="fonts/Raleway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bb853e785f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bb853e785f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bb853e785f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bb853e785f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bb853e785f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bb853e785f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bb853e785f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bb853e785f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bb853e785f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bb853e785f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bdf2558b2a_0_1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bdf2558b2a_0_1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bb853e785f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bb853e785f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bb853e785f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bb853e785f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bb853e785f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bb853e785f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bb853e785f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bb853e785f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bdf3beee66_1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bdf3beee66_1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80700" y="2651100"/>
            <a:ext cx="8982600" cy="2411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 txBox="1"/>
          <p:nvPr>
            <p:ph type="ctrTitle"/>
          </p:nvPr>
        </p:nvSpPr>
        <p:spPr>
          <a:xfrm>
            <a:off x="485875" y="264475"/>
            <a:ext cx="8183700" cy="147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485875" y="1738075"/>
            <a:ext cx="8183700" cy="86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/>
          <p:nvPr/>
        </p:nvSpPr>
        <p:spPr>
          <a:xfrm>
            <a:off x="80700" y="2651100"/>
            <a:ext cx="8982600" cy="2411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" name="Google Shape;16;p3"/>
          <p:cNvSpPr txBox="1"/>
          <p:nvPr>
            <p:ph type="title"/>
          </p:nvPr>
        </p:nvSpPr>
        <p:spPr>
          <a:xfrm>
            <a:off x="485875" y="1714500"/>
            <a:ext cx="8183700" cy="78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  <p:cxnSp>
        <p:nvCxnSpPr>
          <p:cNvPr id="22" name="Google Shape;22;p4"/>
          <p:cNvCxnSpPr/>
          <p:nvPr/>
        </p:nvCxnSpPr>
        <p:spPr>
          <a:xfrm>
            <a:off x="208800" y="1068425"/>
            <a:ext cx="87264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  <p:cxnSp>
        <p:nvCxnSpPr>
          <p:cNvPr id="28" name="Google Shape;28;p5"/>
          <p:cNvCxnSpPr/>
          <p:nvPr/>
        </p:nvCxnSpPr>
        <p:spPr>
          <a:xfrm>
            <a:off x="208800" y="1068425"/>
            <a:ext cx="87264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  <p:cxnSp>
        <p:nvCxnSpPr>
          <p:cNvPr id="32" name="Google Shape;32;p6"/>
          <p:cNvCxnSpPr/>
          <p:nvPr/>
        </p:nvCxnSpPr>
        <p:spPr>
          <a:xfrm>
            <a:off x="208800" y="1068425"/>
            <a:ext cx="87264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5" name="Google Shape;35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6" name="Google Shape;36;p7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  <p:sp>
        <p:nvSpPr>
          <p:cNvPr id="37" name="Google Shape;37;p7"/>
          <p:cNvSpPr/>
          <p:nvPr/>
        </p:nvSpPr>
        <p:spPr>
          <a:xfrm>
            <a:off x="4636800" y="80700"/>
            <a:ext cx="4426500" cy="4982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8" name="Google Shape;38;p7"/>
          <p:cNvCxnSpPr/>
          <p:nvPr/>
        </p:nvCxnSpPr>
        <p:spPr>
          <a:xfrm>
            <a:off x="311700" y="1311300"/>
            <a:ext cx="40203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2"/>
        </a:solidFill>
      </p:bgPr>
    </p:bg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8"/>
          <p:cNvSpPr txBox="1"/>
          <p:nvPr>
            <p:ph type="title"/>
          </p:nvPr>
        </p:nvSpPr>
        <p:spPr>
          <a:xfrm>
            <a:off x="490250" y="526350"/>
            <a:ext cx="56040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1" name="Google Shape;41;p8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9"/>
          <p:cNvSpPr/>
          <p:nvPr/>
        </p:nvSpPr>
        <p:spPr>
          <a:xfrm>
            <a:off x="4636800" y="80700"/>
            <a:ext cx="4426500" cy="4982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4" name="Google Shape;44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5" name="Google Shape;45;p9"/>
          <p:cNvSpPr txBox="1"/>
          <p:nvPr>
            <p:ph type="title"/>
          </p:nvPr>
        </p:nvSpPr>
        <p:spPr>
          <a:xfrm>
            <a:off x="265500" y="1181700"/>
            <a:ext cx="4045200" cy="15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46" name="Google Shape;46;p9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7" name="Google Shape;47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8" name="Google Shape;48;p9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</a:lstStyle>
          <a:p/>
        </p:txBody>
      </p:sp>
      <p:sp>
        <p:nvSpPr>
          <p:cNvPr id="51" name="Google Shape;51;p10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1"/>
          <p:cNvSpPr/>
          <p:nvPr/>
        </p:nvSpPr>
        <p:spPr>
          <a:xfrm>
            <a:off x="80700" y="2651100"/>
            <a:ext cx="8982600" cy="2411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11"/>
          <p:cNvSpPr txBox="1"/>
          <p:nvPr>
            <p:ph hasCustomPrompt="1" type="title"/>
          </p:nvPr>
        </p:nvSpPr>
        <p:spPr>
          <a:xfrm>
            <a:off x="311700" y="743001"/>
            <a:ext cx="8520600" cy="2006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r>
              <a:t>xx%</a:t>
            </a: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311700" y="2845182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6" name="Google Shape;56;p1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2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plum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Source Sans Pro"/>
              <a:buChar char="●"/>
              <a:defRPr sz="1800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Sans Pro"/>
              <a:buChar char="○"/>
              <a:defRPr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Sans Pro"/>
              <a:buChar char="■"/>
              <a:defRPr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Sans Pro"/>
              <a:buChar char="●"/>
              <a:defRPr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○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■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●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○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■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transition spd="med">
    <p:push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3"/>
          <p:cNvSpPr txBox="1"/>
          <p:nvPr>
            <p:ph type="ctrTitle"/>
          </p:nvPr>
        </p:nvSpPr>
        <p:spPr>
          <a:xfrm>
            <a:off x="485875" y="264475"/>
            <a:ext cx="8183700" cy="147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Mini-AutoML dla danych tabelarycznych</a:t>
            </a:r>
            <a:endParaRPr/>
          </a:p>
        </p:txBody>
      </p:sp>
      <p:sp>
        <p:nvSpPr>
          <p:cNvPr id="64" name="Google Shape;64;p13"/>
          <p:cNvSpPr txBox="1"/>
          <p:nvPr>
            <p:ph idx="1" type="subTitle"/>
          </p:nvPr>
        </p:nvSpPr>
        <p:spPr>
          <a:xfrm>
            <a:off x="485875" y="1738075"/>
            <a:ext cx="8183700" cy="86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Martyna Sadowska, Zuzanna Zalewska, Aleksandra Zawadka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4"/>
          <p:cNvSpPr txBox="1"/>
          <p:nvPr>
            <p:ph type="ctrTitle"/>
          </p:nvPr>
        </p:nvSpPr>
        <p:spPr>
          <a:xfrm>
            <a:off x="485875" y="264475"/>
            <a:ext cx="8183700" cy="147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Selekcja modeli</a:t>
            </a:r>
            <a:endParaRPr/>
          </a:p>
        </p:txBody>
      </p:sp>
      <p:sp>
        <p:nvSpPr>
          <p:cNvPr id="70" name="Google Shape;70;p14"/>
          <p:cNvSpPr txBox="1"/>
          <p:nvPr>
            <p:ph idx="1" type="subTitle"/>
          </p:nvPr>
        </p:nvSpPr>
        <p:spPr>
          <a:xfrm>
            <a:off x="485875" y="1738075"/>
            <a:ext cx="8183700" cy="86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Lokalny screening modeli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Zbiory danych</a:t>
            </a:r>
            <a:endParaRPr/>
          </a:p>
        </p:txBody>
      </p:sp>
      <p:sp>
        <p:nvSpPr>
          <p:cNvPr id="76" name="Google Shape;76;p15"/>
          <p:cNvSpPr txBox="1"/>
          <p:nvPr>
            <p:ph idx="1" type="body"/>
          </p:nvPr>
        </p:nvSpPr>
        <p:spPr>
          <a:xfrm>
            <a:off x="311700" y="1152475"/>
            <a:ext cx="8520600" cy="365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l" sz="1500"/>
              <a:t>D</a:t>
            </a:r>
            <a:r>
              <a:rPr lang="pl" sz="1500"/>
              <a:t>ziesięć publicznie dostępnych zbiorów danych pochodzących z platformy OpenML. Zbiory te zostały dobrane w taki sposób, aby zapewnić możliwie dużą różnorodność pod względem liczby obserwacji, liczby cech czy rodzaju zmiennych. </a:t>
            </a:r>
            <a:endParaRPr sz="15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pl" sz="1500">
                <a:solidFill>
                  <a:schemeClr val="dk1"/>
                </a:solidFill>
              </a:rPr>
              <a:t>Wykorzystane zbiory danych</a:t>
            </a:r>
            <a:r>
              <a:rPr lang="pl" sz="1500"/>
              <a:t>:</a:t>
            </a:r>
            <a:endParaRPr sz="1500"/>
          </a:p>
          <a:p>
            <a:pPr indent="-32385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500"/>
              <a:buChar char="-"/>
            </a:pPr>
            <a:r>
              <a:rPr lang="pl" sz="1500"/>
              <a:t>dresses-sales</a:t>
            </a:r>
            <a:endParaRPr sz="1500"/>
          </a:p>
          <a:p>
            <a:pPr indent="-3238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pl" sz="1500"/>
              <a:t>credit-g</a:t>
            </a:r>
            <a:endParaRPr sz="1500"/>
          </a:p>
          <a:p>
            <a:pPr indent="-3238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pl" sz="1500"/>
              <a:t>phoneme</a:t>
            </a:r>
            <a:endParaRPr sz="1500"/>
          </a:p>
          <a:p>
            <a:pPr indent="-3238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pl" sz="1500"/>
              <a:t>ozone-level-8hr</a:t>
            </a:r>
            <a:endParaRPr sz="1500"/>
          </a:p>
          <a:p>
            <a:pPr indent="-3238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pl" sz="1500"/>
              <a:t>steel-plates-fault</a:t>
            </a:r>
            <a:endParaRPr sz="1500"/>
          </a:p>
          <a:p>
            <a:pPr indent="-3238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pl" sz="1500"/>
              <a:t>blood-transfusion-service-center</a:t>
            </a:r>
            <a:endParaRPr sz="1500"/>
          </a:p>
          <a:p>
            <a:pPr indent="-3238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pl" sz="1500"/>
              <a:t>monks-problems-2</a:t>
            </a:r>
            <a:endParaRPr sz="1500"/>
          </a:p>
          <a:p>
            <a:pPr indent="-3238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pl" sz="1500"/>
              <a:t>qsar-biodeg</a:t>
            </a:r>
            <a:endParaRPr sz="1500"/>
          </a:p>
          <a:p>
            <a:pPr indent="-3238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pl" sz="1500"/>
              <a:t>eeg-eye-state</a:t>
            </a:r>
            <a:endParaRPr sz="1500"/>
          </a:p>
          <a:p>
            <a:pPr indent="-3238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pl" sz="1500"/>
              <a:t>jml</a:t>
            </a:r>
            <a:endParaRPr sz="15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6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Preprocessing</a:t>
            </a:r>
            <a:endParaRPr/>
          </a:p>
        </p:txBody>
      </p:sp>
      <p:sp>
        <p:nvSpPr>
          <p:cNvPr id="82" name="Google Shape;82;p16"/>
          <p:cNvSpPr txBox="1"/>
          <p:nvPr>
            <p:ph idx="1" type="body"/>
          </p:nvPr>
        </p:nvSpPr>
        <p:spPr>
          <a:xfrm>
            <a:off x="311700" y="1152475"/>
            <a:ext cx="8520600" cy="373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500">
                <a:solidFill>
                  <a:schemeClr val="dk1"/>
                </a:solidFill>
              </a:rPr>
              <a:t>Podejście uniwersalne:</a:t>
            </a:r>
            <a:endParaRPr b="1"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l" sz="1500"/>
              <a:t>Proces jest w pełni zautomatyzowany i dostosowuje się do każdego zbioru danych bez ingerencji użytkownika, wykorzystując ColumnTransformer.</a:t>
            </a:r>
            <a:endParaRPr sz="15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pl" sz="1500">
                <a:solidFill>
                  <a:schemeClr val="dk1"/>
                </a:solidFill>
              </a:rPr>
              <a:t>Zmienne numeryczne:</a:t>
            </a:r>
            <a:endParaRPr b="1"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500"/>
              <a:buFont typeface="Arial"/>
              <a:buChar char="●"/>
            </a:pPr>
            <a:r>
              <a:rPr lang="pl" sz="1500"/>
              <a:t>Braki danych uzupełniane medianą.</a:t>
            </a:r>
            <a:endParaRPr sz="1500"/>
          </a:p>
          <a:p>
            <a:pPr indent="-3238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Arial"/>
              <a:buChar char="●"/>
            </a:pPr>
            <a:r>
              <a:rPr lang="pl" sz="1500"/>
              <a:t>Wartości standaryzowane za pomocą StandardScaler.</a:t>
            </a:r>
            <a:endParaRPr sz="15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pl" sz="1500">
                <a:solidFill>
                  <a:schemeClr val="dk1"/>
                </a:solidFill>
              </a:rPr>
              <a:t>Zmienne kategoryczne:</a:t>
            </a:r>
            <a:endParaRPr b="1"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500"/>
              <a:buFont typeface="Arial"/>
              <a:buChar char="●"/>
            </a:pPr>
            <a:r>
              <a:rPr lang="pl" sz="1500"/>
              <a:t>Braki danych uzupełniane najczęściej występującą kategorią.</a:t>
            </a:r>
            <a:endParaRPr sz="1500"/>
          </a:p>
          <a:p>
            <a:pPr indent="-3238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ource Sans Pro"/>
              <a:buChar char="●"/>
            </a:pPr>
            <a:r>
              <a:rPr lang="pl" sz="1500"/>
              <a:t>Kodowanie zależne od modelu:</a:t>
            </a:r>
            <a:endParaRPr sz="1500"/>
          </a:p>
          <a:p>
            <a:pPr indent="-32385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pl" sz="1500"/>
              <a:t>m</a:t>
            </a:r>
            <a:r>
              <a:rPr lang="pl" sz="1500"/>
              <a:t>odele drzewiaste: OrdinalEncoder</a:t>
            </a:r>
            <a:r>
              <a:rPr lang="pl" sz="1500"/>
              <a:t> – dla </a:t>
            </a:r>
            <a:r>
              <a:rPr lang="pl" sz="1500"/>
              <a:t>zachowania szybkości i mniejszej wymiarowości,</a:t>
            </a:r>
            <a:endParaRPr sz="1500"/>
          </a:p>
          <a:p>
            <a:pPr indent="-32385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pl" sz="1500"/>
              <a:t>modele liniowe i k-NN: OneHotEncoder – dla lepszej reprezentacji odległości.</a:t>
            </a:r>
            <a:endParaRPr sz="15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7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Budowa portfolio</a:t>
            </a:r>
            <a:endParaRPr/>
          </a:p>
        </p:txBody>
      </p:sp>
      <p:sp>
        <p:nvSpPr>
          <p:cNvPr id="88" name="Google Shape;88;p17"/>
          <p:cNvSpPr txBox="1"/>
          <p:nvPr>
            <p:ph idx="1" type="body"/>
          </p:nvPr>
        </p:nvSpPr>
        <p:spPr>
          <a:xfrm>
            <a:off x="311700" y="1152475"/>
            <a:ext cx="8520600" cy="360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l" sz="1500">
                <a:solidFill>
                  <a:schemeClr val="dk1"/>
                </a:solidFill>
              </a:rPr>
              <a:t>Wybrane modele</a:t>
            </a:r>
            <a:r>
              <a:rPr lang="pl" sz="1500"/>
              <a:t>:</a:t>
            </a:r>
            <a:endParaRPr sz="1500"/>
          </a:p>
          <a:p>
            <a:pPr indent="-32385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500"/>
              <a:buChar char="-"/>
            </a:pPr>
            <a:r>
              <a:rPr lang="pl" sz="1500"/>
              <a:t>Logistic Regression</a:t>
            </a:r>
            <a:endParaRPr sz="1500"/>
          </a:p>
          <a:p>
            <a:pPr indent="-3238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pl" sz="1500"/>
              <a:t>Random Forest</a:t>
            </a:r>
            <a:endParaRPr sz="1500"/>
          </a:p>
          <a:p>
            <a:pPr indent="-3238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pl" sz="1500"/>
              <a:t>Gradient Boosting</a:t>
            </a:r>
            <a:endParaRPr sz="1500"/>
          </a:p>
          <a:p>
            <a:pPr indent="-3238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pl" sz="1500"/>
              <a:t>k-Nearest Neighbors</a:t>
            </a:r>
            <a:endParaRPr sz="1500"/>
          </a:p>
          <a:p>
            <a:pPr indent="-3238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pl" sz="1500"/>
              <a:t>XGBoost</a:t>
            </a:r>
            <a:endParaRPr sz="1500"/>
          </a:p>
          <a:p>
            <a:pPr indent="-3238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pl" sz="1500"/>
              <a:t>LightGBM</a:t>
            </a:r>
            <a:endParaRPr sz="1500"/>
          </a:p>
          <a:p>
            <a:pPr indent="-3238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pl" sz="1500"/>
              <a:t>CatBoost</a:t>
            </a:r>
            <a:endParaRPr sz="15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l" sz="1500"/>
              <a:t>Przetestowano łącznie </a:t>
            </a:r>
            <a:r>
              <a:rPr b="1" lang="pl" sz="1500">
                <a:solidFill>
                  <a:schemeClr val="dk1"/>
                </a:solidFill>
              </a:rPr>
              <a:t>2100</a:t>
            </a:r>
            <a:r>
              <a:rPr lang="pl" sz="1500"/>
              <a:t> konfiguracji (7 rodzin algorytmów x 30 losowych zestawów hiperparametrów x 10 zbiorów danych). Do finalnego portfolio wybrano </a:t>
            </a:r>
            <a:r>
              <a:rPr b="1" lang="pl" sz="1500">
                <a:solidFill>
                  <a:schemeClr val="dk1"/>
                </a:solidFill>
              </a:rPr>
              <a:t>50</a:t>
            </a:r>
            <a:r>
              <a:rPr lang="pl" sz="1500"/>
              <a:t> modeli na podstawie najwyższej średniej globalnej metryki ROC-AUC. Aby uniknąć dominacji jednej rodziny algorytmów, nałożono limit max. 8 modeli danego typu.</a:t>
            </a:r>
            <a:endParaRPr sz="15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8" title="boxplots_dataset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6513" y="152400"/>
            <a:ext cx="8110974" cy="4838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480150" y="1468175"/>
            <a:ext cx="8183700" cy="78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4200"/>
              <a:t>System MiniAutoML</a:t>
            </a:r>
            <a:endParaRPr sz="42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0"/>
          <p:cNvSpPr txBox="1"/>
          <p:nvPr>
            <p:ph type="title"/>
          </p:nvPr>
        </p:nvSpPr>
        <p:spPr>
          <a:xfrm>
            <a:off x="311700" y="555600"/>
            <a:ext cx="40041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2700"/>
              <a:t>Działanie modelu</a:t>
            </a:r>
            <a:endParaRPr sz="2700"/>
          </a:p>
        </p:txBody>
      </p:sp>
      <p:sp>
        <p:nvSpPr>
          <p:cNvPr id="104" name="Google Shape;104;p20"/>
          <p:cNvSpPr txBox="1"/>
          <p:nvPr>
            <p:ph idx="1" type="body"/>
          </p:nvPr>
        </p:nvSpPr>
        <p:spPr>
          <a:xfrm>
            <a:off x="311700" y="1389600"/>
            <a:ext cx="43269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-"/>
            </a:pPr>
            <a:r>
              <a:rPr lang="pl" sz="1700"/>
              <a:t>Zapis wybranej przez nas konfiguracji modeli.</a:t>
            </a:r>
            <a:endParaRPr sz="1700"/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-"/>
            </a:pPr>
            <a:r>
              <a:rPr lang="pl" sz="1700"/>
              <a:t>Wcześniej opisany preprocessing.</a:t>
            </a:r>
            <a:endParaRPr sz="1700"/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-"/>
            </a:pPr>
            <a:r>
              <a:rPr lang="pl" sz="1700"/>
              <a:t>5-krotna walidacja krzyżowa ze stratyfikacją.</a:t>
            </a:r>
            <a:endParaRPr sz="1700"/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-"/>
            </a:pPr>
            <a:r>
              <a:rPr lang="pl" sz="1700"/>
              <a:t>Ranking modeli po średniej wartości metryki Balanced Accuracy.</a:t>
            </a:r>
            <a:endParaRPr sz="17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1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Testowanie ensemblingu</a:t>
            </a:r>
            <a:endParaRPr/>
          </a:p>
        </p:txBody>
      </p:sp>
      <p:sp>
        <p:nvSpPr>
          <p:cNvPr id="110" name="Google Shape;110;p21"/>
          <p:cNvSpPr txBox="1"/>
          <p:nvPr>
            <p:ph idx="1" type="body"/>
          </p:nvPr>
        </p:nvSpPr>
        <p:spPr>
          <a:xfrm>
            <a:off x="311700" y="1152475"/>
            <a:ext cx="8520600" cy="371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pl" sz="1700"/>
              <a:t>Wybrane zostało 5 modeli o najlepszej średniej wartości balanced accuracy, które zostały użyte w modelu Votingowym z miękkim głosowaniem. Porównane zostały wyniki modelu używającego jedynie najlepszej konfiguracji oraz systemu Votingowego używającego 5 najlepszych modeli.</a:t>
            </a:r>
            <a:endParaRPr sz="1700"/>
          </a:p>
        </p:txBody>
      </p:sp>
      <p:pic>
        <p:nvPicPr>
          <p:cNvPr id="111" name="Google Shape;111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94213" y="2571750"/>
            <a:ext cx="7355576" cy="2387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2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Ostateczne działanie modelu</a:t>
            </a:r>
            <a:endParaRPr/>
          </a:p>
        </p:txBody>
      </p:sp>
      <p:sp>
        <p:nvSpPr>
          <p:cNvPr id="117" name="Google Shape;117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l" sz="1700"/>
              <a:t>Każdy model z portfolio przechodzi 5-krotną walidację krzyżową.</a:t>
            </a:r>
            <a:endParaRPr sz="17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pl" sz="1700">
                <a:solidFill>
                  <a:schemeClr val="dk1"/>
                </a:solidFill>
              </a:rPr>
              <a:t>Dwie ścieżki treningowe</a:t>
            </a:r>
            <a:r>
              <a:rPr lang="pl" sz="1700"/>
              <a:t>:</a:t>
            </a:r>
            <a:endParaRPr sz="1700"/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Font typeface="Source Sans Pro"/>
              <a:buAutoNum type="arabicPeriod"/>
            </a:pPr>
            <a:r>
              <a:rPr lang="pl" sz="1700"/>
              <a:t>Ścieżka zespołowa: wybór 5 najlepszych modeli i połączenie ich w Voting Classifier.</a:t>
            </a:r>
            <a:endParaRPr sz="1700"/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Font typeface="Source Sans Pro"/>
              <a:buAutoNum type="arabicPeriod"/>
            </a:pPr>
            <a:r>
              <a:rPr lang="pl" sz="1700"/>
              <a:t>Ścieżka pojedyncza: wybór 1 najlepszego modelu indywidualnego.</a:t>
            </a:r>
            <a:endParaRPr sz="17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l" sz="1700"/>
              <a:t>System porównuje skuteczność najlepszego modelu pojedynczego z modelem Votingowym. Jako model finalny wybierany jest ten, który uzyskał wyższe Balanced Accuracy.</a:t>
            </a:r>
            <a:endParaRPr sz="17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3"/>
          <p:cNvSpPr txBox="1"/>
          <p:nvPr>
            <p:ph idx="4294967295"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Wyniki</a:t>
            </a:r>
            <a:endParaRPr/>
          </a:p>
        </p:txBody>
      </p:sp>
      <p:pic>
        <p:nvPicPr>
          <p:cNvPr id="123" name="Google Shape;123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2750" y="1170150"/>
            <a:ext cx="3809015" cy="38209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2000" y="0"/>
            <a:ext cx="3584350" cy="1953600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23"/>
          <p:cNvSpPr txBox="1"/>
          <p:nvPr/>
        </p:nvSpPr>
        <p:spPr>
          <a:xfrm>
            <a:off x="4120725" y="2084975"/>
            <a:ext cx="4828500" cy="32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pl" sz="1700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Zagregowane wyniki pokazują, że Random Forest osiąga najwyższą średnią skuteczność. Modele k-NN osiągają niemal równoważną skuteczność przy minimalnym koszcie czasowym. W przypadku CatBoost oraz Logistic Regression obserwujemy umiarkowaną skuteczność, przy czym CatBoost wymaga znacznie więcej czasu. Najniższe wartości średniego balanced accuracy uzyskują XGBoost, LightGBM oraz Gradient Boosting.</a:t>
            </a:r>
            <a:endParaRPr sz="1700">
              <a:solidFill>
                <a:schemeClr val="dk2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cxnSp>
        <p:nvCxnSpPr>
          <p:cNvPr id="126" name="Google Shape;126;p23"/>
          <p:cNvCxnSpPr/>
          <p:nvPr/>
        </p:nvCxnSpPr>
        <p:spPr>
          <a:xfrm>
            <a:off x="172550" y="1068425"/>
            <a:ext cx="37494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4"/>
          <p:cNvSpPr txBox="1"/>
          <p:nvPr>
            <p:ph type="title"/>
          </p:nvPr>
        </p:nvSpPr>
        <p:spPr>
          <a:xfrm>
            <a:off x="1770000" y="526350"/>
            <a:ext cx="56040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">
                <a:latin typeface="Source Sans Pro"/>
                <a:ea typeface="Source Sans Pro"/>
                <a:cs typeface="Source Sans Pro"/>
                <a:sym typeface="Source Sans Pro"/>
              </a:rPr>
              <a:t>Dziękujemy</a:t>
            </a:r>
            <a:endParaRPr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lum">
  <a:themeElements>
    <a:clrScheme name="Plum">
      <a:dk1>
        <a:srgbClr val="611BB8"/>
      </a:dk1>
      <a:lt1>
        <a:srgbClr val="FFFFFF"/>
      </a:lt1>
      <a:dk2>
        <a:srgbClr val="000000"/>
      </a:dk2>
      <a:lt2>
        <a:srgbClr val="7F7F7F"/>
      </a:lt2>
      <a:accent1>
        <a:srgbClr val="333333"/>
      </a:accent1>
      <a:accent2>
        <a:srgbClr val="5E2B97"/>
      </a:accent2>
      <a:accent3>
        <a:srgbClr val="7E57C2"/>
      </a:accent3>
      <a:accent4>
        <a:srgbClr val="C77025"/>
      </a:accent4>
      <a:accent5>
        <a:srgbClr val="009688"/>
      </a:accent5>
      <a:accent6>
        <a:srgbClr val="FFD600"/>
      </a:accent6>
      <a:hlink>
        <a:srgbClr val="009688"/>
      </a:hlink>
      <a:folHlink>
        <a:srgbClr val="00968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